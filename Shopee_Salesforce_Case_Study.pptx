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0799763" cy="8640763"/>
  <p:notesSz cx="6858000" cy="9144000"/>
  <p:defaultTextStyle>
    <a:defPPr>
      <a:defRPr lang="en-US"/>
    </a:defPPr>
    <a:lvl1pPr marL="0" algn="l" defTabSz="534878" rtl="0" eaLnBrk="1" latinLnBrk="0" hangingPunct="1">
      <a:defRPr sz="2106" kern="1200">
        <a:solidFill>
          <a:schemeClr val="tx1"/>
        </a:solidFill>
        <a:latin typeface="+mn-lt"/>
        <a:ea typeface="+mn-ea"/>
        <a:cs typeface="+mn-cs"/>
      </a:defRPr>
    </a:lvl1pPr>
    <a:lvl2pPr marL="534878" algn="l" defTabSz="534878" rtl="0" eaLnBrk="1" latinLnBrk="0" hangingPunct="1">
      <a:defRPr sz="2106" kern="1200">
        <a:solidFill>
          <a:schemeClr val="tx1"/>
        </a:solidFill>
        <a:latin typeface="+mn-lt"/>
        <a:ea typeface="+mn-ea"/>
        <a:cs typeface="+mn-cs"/>
      </a:defRPr>
    </a:lvl2pPr>
    <a:lvl3pPr marL="1069757" algn="l" defTabSz="534878" rtl="0" eaLnBrk="1" latinLnBrk="0" hangingPunct="1">
      <a:defRPr sz="2106" kern="1200">
        <a:solidFill>
          <a:schemeClr val="tx1"/>
        </a:solidFill>
        <a:latin typeface="+mn-lt"/>
        <a:ea typeface="+mn-ea"/>
        <a:cs typeface="+mn-cs"/>
      </a:defRPr>
    </a:lvl3pPr>
    <a:lvl4pPr marL="1604635" algn="l" defTabSz="534878" rtl="0" eaLnBrk="1" latinLnBrk="0" hangingPunct="1">
      <a:defRPr sz="2106" kern="1200">
        <a:solidFill>
          <a:schemeClr val="tx1"/>
        </a:solidFill>
        <a:latin typeface="+mn-lt"/>
        <a:ea typeface="+mn-ea"/>
        <a:cs typeface="+mn-cs"/>
      </a:defRPr>
    </a:lvl4pPr>
    <a:lvl5pPr marL="2139513" algn="l" defTabSz="534878" rtl="0" eaLnBrk="1" latinLnBrk="0" hangingPunct="1">
      <a:defRPr sz="2106" kern="1200">
        <a:solidFill>
          <a:schemeClr val="tx1"/>
        </a:solidFill>
        <a:latin typeface="+mn-lt"/>
        <a:ea typeface="+mn-ea"/>
        <a:cs typeface="+mn-cs"/>
      </a:defRPr>
    </a:lvl5pPr>
    <a:lvl6pPr marL="2674391" algn="l" defTabSz="534878" rtl="0" eaLnBrk="1" latinLnBrk="0" hangingPunct="1">
      <a:defRPr sz="2106" kern="1200">
        <a:solidFill>
          <a:schemeClr val="tx1"/>
        </a:solidFill>
        <a:latin typeface="+mn-lt"/>
        <a:ea typeface="+mn-ea"/>
        <a:cs typeface="+mn-cs"/>
      </a:defRPr>
    </a:lvl6pPr>
    <a:lvl7pPr marL="3209270" algn="l" defTabSz="534878" rtl="0" eaLnBrk="1" latinLnBrk="0" hangingPunct="1">
      <a:defRPr sz="2106" kern="1200">
        <a:solidFill>
          <a:schemeClr val="tx1"/>
        </a:solidFill>
        <a:latin typeface="+mn-lt"/>
        <a:ea typeface="+mn-ea"/>
        <a:cs typeface="+mn-cs"/>
      </a:defRPr>
    </a:lvl7pPr>
    <a:lvl8pPr marL="3744148" algn="l" defTabSz="534878" rtl="0" eaLnBrk="1" latinLnBrk="0" hangingPunct="1">
      <a:defRPr sz="2106" kern="1200">
        <a:solidFill>
          <a:schemeClr val="tx1"/>
        </a:solidFill>
        <a:latin typeface="+mn-lt"/>
        <a:ea typeface="+mn-ea"/>
        <a:cs typeface="+mn-cs"/>
      </a:defRPr>
    </a:lvl8pPr>
    <a:lvl9pPr marL="4279026" algn="l" defTabSz="534878" rtl="0" eaLnBrk="1" latinLnBrk="0" hangingPunct="1">
      <a:defRPr sz="21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2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9279CA-BDEE-4863-8FFF-A12CD1DF8D9F}" v="133" dt="2025-08-06T05:42:26.951"/>
    <p1510:client id="{BD066268-FD08-4D69-804B-F83495C5D186}" v="45" dt="2025-08-04T10:11:48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722"/>
        <p:guide pos="340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3" y="2684237"/>
            <a:ext cx="9179798" cy="1852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965" y="4896433"/>
            <a:ext cx="7559835" cy="22081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08" y="5552491"/>
            <a:ext cx="9179798" cy="171615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08" y="3662325"/>
            <a:ext cx="9179798" cy="189016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988" y="2016179"/>
            <a:ext cx="4769895" cy="57025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9880" y="2016179"/>
            <a:ext cx="4769895" cy="57025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9" y="1934172"/>
            <a:ext cx="4771771" cy="80607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989" y="2740242"/>
            <a:ext cx="4771771" cy="49784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130" y="1934172"/>
            <a:ext cx="4773645" cy="80607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130" y="2740242"/>
            <a:ext cx="4773645" cy="49784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9" y="344032"/>
            <a:ext cx="3553047" cy="146412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409" y="344031"/>
            <a:ext cx="6037367" cy="73746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989" y="1808161"/>
            <a:ext cx="3553047" cy="591052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30" y="6048534"/>
            <a:ext cx="6479858" cy="71406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830" y="772068"/>
            <a:ext cx="6479858" cy="51844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830" y="6762599"/>
            <a:ext cx="6479858" cy="101408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29829" y="346033"/>
            <a:ext cx="2429947" cy="7372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9" y="346033"/>
            <a:ext cx="7109843" cy="7372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989" y="346032"/>
            <a:ext cx="9719787" cy="1440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9" y="2016179"/>
            <a:ext cx="9719787" cy="5702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988" y="8008709"/>
            <a:ext cx="2519945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9920" y="8008709"/>
            <a:ext cx="3419925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39830" y="8008709"/>
            <a:ext cx="2519945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/>
              <a:t>Case Study: Shopee's Transformation with Salesforce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/>
              <a:t>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600"/>
              <a:t>Shopee, a leading e-commerce platform in Southeast Asia, faced several issues:</a:t>
            </a:r>
          </a:p>
          <a:p>
            <a:r>
              <a:rPr sz="2600"/>
              <a:t>Fragmented Customer Data across systems (web, app, CRM, support)</a:t>
            </a:r>
          </a:p>
          <a:p>
            <a:r>
              <a:rPr sz="2600"/>
              <a:t>Low Personalization in product recommendations</a:t>
            </a:r>
          </a:p>
          <a:p>
            <a:r>
              <a:rPr sz="2600"/>
              <a:t>Customer Support Bottlenecks due to repetitive queries</a:t>
            </a:r>
          </a:p>
          <a:p>
            <a:r>
              <a:rPr sz="2600"/>
              <a:t>Missed Revenue Opportunities from lack of predictive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/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600"/>
              <a:t>Shopee implemented a unified solution using:</a:t>
            </a:r>
          </a:p>
          <a:p>
            <a:r>
              <a:rPr sz="2600"/>
              <a:t>Salesforce Data Cloud for real-time customer data unification</a:t>
            </a:r>
            <a:r>
              <a:rPr lang="en-IN" sz="2600"/>
              <a:t> &amp; personalized engagement </a:t>
            </a:r>
            <a:endParaRPr sz="2600"/>
          </a:p>
          <a:p>
            <a:r>
              <a:rPr sz="2600"/>
              <a:t>Salesforce Einstein for predictive analytics and recommendations</a:t>
            </a:r>
          </a:p>
          <a:p>
            <a:r>
              <a:rPr sz="2600"/>
              <a:t>Salesforce </a:t>
            </a:r>
            <a:r>
              <a:rPr sz="2600" err="1"/>
              <a:t>Agentforce</a:t>
            </a:r>
            <a:r>
              <a:rPr sz="2600"/>
              <a:t> for personalized engagement and chatbot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604" y="350580"/>
            <a:ext cx="8610600" cy="1143000"/>
          </a:xfrm>
        </p:spPr>
        <p:txBody>
          <a:bodyPr>
            <a:noAutofit/>
          </a:bodyPr>
          <a:lstStyle/>
          <a:p>
            <a:r>
              <a:rPr sz="3600" b="1"/>
              <a:t>Solution Architecture: Salesforce Data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600"/>
              <a:t>Data Ingestion from website, app, CRM, and third-party sources</a:t>
            </a:r>
          </a:p>
          <a:p>
            <a:r>
              <a:rPr sz="2600"/>
              <a:t>Identity Resolution using deterministic and probabilistic matching</a:t>
            </a:r>
          </a:p>
          <a:p>
            <a:r>
              <a:rPr sz="2600"/>
              <a:t>Segmentation based on behavior, purchase history, preferences</a:t>
            </a:r>
          </a:p>
          <a:p>
            <a:r>
              <a:rPr sz="2600"/>
              <a:t>Real-Time Activation for marketing and service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/>
              <a:t>Solution Architecture: Einstein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600"/>
              <a:t>Predictive Scoring </a:t>
            </a:r>
            <a:r>
              <a:rPr lang="en-IN" sz="2600"/>
              <a:t>of Customers </a:t>
            </a:r>
            <a:r>
              <a:rPr sz="2600"/>
              <a:t>for purchase likelihood, churn, and promotions</a:t>
            </a:r>
          </a:p>
          <a:p>
            <a:r>
              <a:rPr sz="2600"/>
              <a:t>Upsell/Cross-sell Models trained on historical data</a:t>
            </a:r>
          </a:p>
          <a:p>
            <a:r>
              <a:rPr sz="2600"/>
              <a:t>Next Best Action recommendations for</a:t>
            </a:r>
            <a:r>
              <a:rPr lang="en-IN" sz="2600"/>
              <a:t> Existing customers for better retention strategy </a:t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081" y="8966"/>
            <a:ext cx="8229600" cy="1143000"/>
          </a:xfrm>
        </p:spPr>
        <p:txBody>
          <a:bodyPr>
            <a:normAutofit/>
          </a:bodyPr>
          <a:lstStyle/>
          <a:p>
            <a:r>
              <a:rPr sz="3600"/>
              <a:t>Solution Architecture: </a:t>
            </a:r>
            <a:r>
              <a:rPr sz="3600" err="1"/>
              <a:t>Agentforce</a:t>
            </a:r>
            <a:endParaRPr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485" y="1104547"/>
            <a:ext cx="10591800" cy="5900057"/>
          </a:xfrm>
        </p:spPr>
        <p:txBody>
          <a:bodyPr>
            <a:noAutofit/>
          </a:bodyPr>
          <a:lstStyle/>
          <a:p>
            <a:r>
              <a:rPr sz="1500" b="1"/>
              <a:t>Chatbot Integration on website and app</a:t>
            </a:r>
            <a:r>
              <a:rPr lang="en-IN" sz="1500" b="1"/>
              <a:t>, Luma</a:t>
            </a:r>
            <a:endParaRPr sz="1500" b="1"/>
          </a:p>
          <a:p>
            <a:r>
              <a:rPr sz="1500" b="1"/>
              <a:t>Personalized greetings and product recommendations</a:t>
            </a:r>
          </a:p>
          <a:p>
            <a:r>
              <a:rPr lang="en-IN" sz="1500" b="1"/>
              <a:t>***</a:t>
            </a:r>
            <a:r>
              <a:rPr sz="1500" b="1"/>
              <a:t>Order tracking, FAQs, and escalation to live agents</a:t>
            </a:r>
          </a:p>
          <a:p>
            <a:r>
              <a:rPr lang="en-IN" sz="1500" b="1"/>
              <a:t>***</a:t>
            </a:r>
            <a:r>
              <a:rPr sz="1500" b="1"/>
              <a:t>Agent Console with 360° customer view</a:t>
            </a:r>
          </a:p>
          <a:p>
            <a:r>
              <a:rPr sz="1500" b="1"/>
              <a:t>Recent purchases, predicted interests, sentiment analysis</a:t>
            </a:r>
          </a:p>
          <a:p>
            <a:r>
              <a:rPr sz="1500" b="1"/>
              <a:t>Omnichannel Support: chat, email, and social media</a:t>
            </a:r>
            <a:endParaRPr lang="en-IN" sz="1500" b="1"/>
          </a:p>
          <a:p>
            <a:endParaRPr lang="en-IN" sz="1500"/>
          </a:p>
          <a:p>
            <a:pPr marL="0" indent="0">
              <a:buNone/>
            </a:pPr>
            <a:r>
              <a:rPr lang="en-IN" sz="1500" b="1"/>
              <a:t>Solution &amp; Outcomes: </a:t>
            </a:r>
            <a:br>
              <a:rPr lang="en-IN" sz="1500" b="1"/>
            </a:br>
            <a:r>
              <a:rPr lang="en-US" sz="1500" b="1"/>
              <a:t>1. Enhanced Customer Experience :</a:t>
            </a:r>
          </a:p>
          <a:p>
            <a:r>
              <a:rPr lang="en-US" sz="1500"/>
              <a:t>Personalized interactions led to higher customer satisfaction and loyalty.</a:t>
            </a:r>
          </a:p>
          <a:p>
            <a:r>
              <a:rPr lang="en-US" sz="1500"/>
              <a:t>Real-time engagement improved responsiveness and reduced wait times.</a:t>
            </a:r>
          </a:p>
          <a:p>
            <a:pPr marL="0" indent="0">
              <a:buNone/>
            </a:pPr>
            <a:r>
              <a:rPr lang="en-US" sz="1500" b="1"/>
              <a:t>2. Improved Conversion Rates :</a:t>
            </a:r>
          </a:p>
          <a:p>
            <a:r>
              <a:rPr lang="en-US" sz="1500"/>
              <a:t>AI-driven product recommendations increased click-through and purchase rates.</a:t>
            </a:r>
          </a:p>
          <a:p>
            <a:r>
              <a:rPr lang="en-US" sz="1500"/>
              <a:t>Dynamic segmentation enabled targeted promotions, boosting campaign effectiveness.</a:t>
            </a:r>
          </a:p>
          <a:p>
            <a:pPr marL="0" indent="0">
              <a:buNone/>
            </a:pPr>
            <a:r>
              <a:rPr lang="en-US" sz="1500" b="1"/>
              <a:t>3. Operational Efficiency :</a:t>
            </a:r>
          </a:p>
          <a:p>
            <a:r>
              <a:rPr lang="en-US" sz="1500"/>
              <a:t>Chatbots handled repetitive queries, reducing support team workload.</a:t>
            </a:r>
          </a:p>
          <a:p>
            <a:r>
              <a:rPr lang="en-US" sz="1500"/>
              <a:t>Agents were empowered with full customer context, improving first-contact resolution.</a:t>
            </a:r>
          </a:p>
          <a:p>
            <a:pPr marL="0" indent="0">
              <a:buNone/>
            </a:pPr>
            <a:r>
              <a:rPr lang="en-US" sz="1500"/>
              <a:t>4. </a:t>
            </a:r>
            <a:r>
              <a:rPr lang="en-US" sz="1500" b="1"/>
              <a:t>Inventory Availability:</a:t>
            </a:r>
            <a:endParaRPr lang="en-US" sz="1500"/>
          </a:p>
          <a:p>
            <a:r>
              <a:rPr lang="en-US" sz="1500" err="1"/>
              <a:t>Agentforce</a:t>
            </a:r>
            <a:r>
              <a:rPr lang="en-US" sz="1500"/>
              <a:t> can check product availability in real-time, preventing missed sales due to out-of-stock items. </a:t>
            </a:r>
          </a:p>
          <a:p>
            <a:pPr marL="0" indent="0">
              <a:buNone/>
            </a:pPr>
            <a:r>
              <a:rPr lang="en-US" sz="1500" b="1"/>
              <a:t>4. Revenue Growth :</a:t>
            </a:r>
          </a:p>
          <a:p>
            <a:r>
              <a:rPr lang="en-US" sz="1500"/>
              <a:t>Predictive insights enabled effective cross-sell and upsell strategies.</a:t>
            </a:r>
          </a:p>
          <a:p>
            <a:r>
              <a:rPr lang="en-US" sz="1500"/>
              <a:t>Better targeting and personalization led to higher average order value.</a:t>
            </a:r>
          </a:p>
          <a:p>
            <a:pPr marL="0" indent="0">
              <a:buNone/>
            </a:pPr>
            <a:r>
              <a:rPr lang="en-US" sz="1500" b="1"/>
              <a:t>5. Data-Driven Decision Making :</a:t>
            </a:r>
          </a:p>
          <a:p>
            <a:r>
              <a:rPr lang="en-US" sz="1500"/>
              <a:t>Unified data and predictive analytics provided actionable insights for marketing and service teams.</a:t>
            </a:r>
          </a:p>
          <a:p>
            <a:r>
              <a:rPr lang="en-US" sz="1500"/>
              <a:t>Continuous learning models helped Shopee adapt to changing customer behaviors.</a:t>
            </a:r>
          </a:p>
          <a:p>
            <a:pPr marL="0" indent="0">
              <a:buNone/>
            </a:pPr>
            <a:r>
              <a:rPr lang="en-US" sz="1500" b="1"/>
              <a:t>6. Order Management:</a:t>
            </a:r>
          </a:p>
          <a:p>
            <a:r>
              <a:rPr lang="en-US" sz="1500"/>
              <a:t>It can handle various order-related tasks, such as processing orders, managing cancellations, and handling returns.</a:t>
            </a:r>
            <a:endParaRPr lang="en-IN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Case Study: Shopee's Transformation with Salesforce</vt:lpstr>
      <vt:lpstr>Business Challenge</vt:lpstr>
      <vt:lpstr>Solution Overview</vt:lpstr>
      <vt:lpstr>Solution Architecture: Salesforce Data Cloud</vt:lpstr>
      <vt:lpstr>Solution Architecture: Einstein AI</vt:lpstr>
      <vt:lpstr>Solution Architecture: Agentforce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2025-11-02T19:17:48Z</dcterms:modified>
  <cp:category/>
</cp:coreProperties>
</file>